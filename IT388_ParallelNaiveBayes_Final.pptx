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442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684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918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A4A7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9.11x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32918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A4A7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32918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A4A7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291840"/>
            <a:ext cx="1645920" cy="1554480"/>
          </a:xfrm>
          <a:prstGeom prst="roundRect">
            <a:avLst>
              <a:gd name="adj" fmla="val 7059"/>
            </a:avLst>
          </a:prstGeom>
          <a:solidFill>
            <a:srgbClr val="1A4A7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83680" y="41148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Naive Bayes Classifier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743200" cy="3657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1874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388  Parallel Processing  |  Spring 2026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Hoffman   Brady Davidson   Daniel Sevik   Nathan Wolniak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integer-coded categories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classification processed row by row: no dependencies between rows, embarrassingly parallel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cross-validation: split data into 5 parts, train on 4, test on 1, rotate and repeat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metrics reported: accuracy and confusion matrix per fold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probabilities for numerical stability; Laplace smoothing (alpha=1.0) for unseen values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0" y="8686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868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| x₁...xₙ) =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P(y) ∏ P(xᵢ | y)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7760" y="18745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18745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P(y)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count(y) / N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P(xᵢ | y)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count(xᵢ, y) / count(y)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argmax [ log P(y) + Σ log P(xᵢ|y)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35204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3520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 sets are drawn from the same data. Accuracy will be artificially high. This is a parallel computing performance exercise, not a production ML system.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Repository, CDC BRFSS 2015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253k rows, 21 binary/categorical features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age, smoking, cholesterol, blood pressure, and more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positive / negative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319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Alex Teboul, CDC BRFSS 2015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~3,500 rows, similar feature set to diabetes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verification only, not used for scaling tests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65760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38928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diabetes_csv.py  /  heart_csv.py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38928" y="1627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Python scripts, one per dataset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28032" y="1737360"/>
            <a:ext cx="36576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365760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8928" y="22860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encoding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38928" y="2587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converted to categorical integer values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28032" y="2697480"/>
            <a:ext cx="36576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365760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8928" y="3246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diabetes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3547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to generate 20k, 100k, 500k, and 1m variants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28032" y="3657600"/>
            <a:ext cx="36576" cy="5486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4251960"/>
            <a:ext cx="365760" cy="36576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38928" y="42062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three files per dataset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38928" y="4507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  |  labeled.csv  |  unlabeled.csv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Algorithm: nb_classifier.c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43584"/>
            <a:ext cx="347472" cy="347472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metadata, labeled, and unlabeled CSVs into 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1591056"/>
            <a:ext cx="36576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347472" cy="347472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975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2494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(feature, class) counts, convert to log probabilities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" y="2359152"/>
            <a:ext cx="36576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347472" cy="347472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5-fold: train on k-1 folds, score held-out fold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" y="3127248"/>
            <a:ext cx="36576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347472" cy="347472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511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7856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unlabeled rows against log probs, return argmax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" y="3895344"/>
            <a:ext cx="36576" cy="3840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347472" cy="347472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279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 CSV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5537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predicted class as final column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Parallelism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188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accumulate_counts_range(data, start, end, ...)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1700784"/>
            <a:ext cx="4114800" cy="438912"/>
          </a:xfrm>
          <a:prstGeom prst="roundRect">
            <a:avLst>
              <a:gd name="adj" fmla="val 16667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70078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 offset[j] + class * values[j] + value_idx 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21284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row range: any partition scheme without code changes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1D probability array: cache-friendly and trivially reducible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log_probs is read-only during classification: zero contention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phases timed independently with omp_get_wtime()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Parallelized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functions parallelized across 3 phases, file I/O intentionally left serial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3794760"/>
          </a:xfrm>
          <a:prstGeom prst="roundRect">
            <a:avLst>
              <a:gd name="adj" fmla="val 2892"/>
            </a:avLst>
          </a:prstGeom>
          <a:solidFill>
            <a:srgbClr val="F0F7FF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 (k = 5 folds)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D0E4F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5361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1838" y="1536192"/>
            <a:ext cx="215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fold train/test splits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D0E4F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1536192"/>
            <a:ext cx="230066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confusion_matrix_binary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48150" y="1536192"/>
            <a:ext cx="115576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TN/FP/FN/TP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121408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BF2FA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2523744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accumulate_counts_range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834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(feature, class) occurrences over a row range.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2102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converted to log probabilities with Laplace smoothing after reduction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BF2FA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64608" y="2523744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25603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classify_dataset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27980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rows against log probs.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64608" y="3209544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32461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build_truth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3483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true labels from final column.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64608" y="3895344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39319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compute_accuracy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4169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correct predictions.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61288"/>
            <a:ext cx="4251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accumulate_counts_range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 reduction, private copies per thread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classify_dataset</a:t>
            </a: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for, no contention on predictions[i]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build_truth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parallel for, each thread writes truth[i]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compute_accuracy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for with reduction(+:correct)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confusion_matrix_binary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for with local TN/FP/FN/TP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 for, distinct destination rows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loop stays serial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parallelism lives inside each fold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schedule(static)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uniform work per row.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design enabled this — row ranges, flat arrays, and read-only log_probs required minimal changes.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Pragmas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accumulation — array reduction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898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898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(static) \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reduction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(+:class_counts[:C]) \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reduction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(+:feature_counts[:P])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487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embarrassingly parallel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715768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27157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rows; i++)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predictions[i]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classify_row(...);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602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scalar reduction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83133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3831336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reduction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(+:correct)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n; i++)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(truth[i] == pred[i])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correct++;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61288"/>
            <a:ext cx="4251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reads all data, broadcasts full dataset via MPI_Bcast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accumulate_counts_range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rank processes its row slice, MPI_Allreduce sums counts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classify_dataset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rank classifies its slice, MPI_Allgatherv assembles predictions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build_truth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rank extracts its label slice, MPI_Allgatherv reassembles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compute_accuracy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correct count summed with MPI_Allreduce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rank copies its slice, MPI_Allgatherv reassembles full split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confusion_matrix_binary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local TN/FP/FN/TP counts reduced to rank 0 with MPI_Reduce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</a:t>
            </a: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called twice per fold across 5 folds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89888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rank copies its slice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local_rows; i++)
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memcpy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(&amp;local_dest[i*cols], &amp;src[...]);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MPI_Allgatherv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(local_dest, local_rows*cols,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MPI_INT, dest, counts, displ,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MPI_INT, WORLD);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5786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confusion_matrix_binary</a:t>
            </a: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 locally, reduce to rank 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807208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8072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rank counts its slice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local_n; i++) {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(truth[i]==0 &amp;&amp; pred[i]==0) </a:t>
            </a: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(truth[i]==1 &amp;&amp; pred[i]==1) </a:t>
            </a: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fp, fn ...
}
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MPI_Reduce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(local, global, 4, MPI_INT,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MPI_SUM,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MPI_COMM_WORLD);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61288"/>
            <a:ext cx="4251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distributes row partitions across nodes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parallelizes loops within each rank's slice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of parallelism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inter-node via MPI, intra-node via OMP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CV structure as MPI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fold loop serial, copy_rows and confusion_matrix_binary use MPI collectives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mpiexec -n &lt;procs&gt; ./nb_hybrid ... &lt;threads&gt;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design paid off twice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 ranges and flat arrays enabled both MPI and OMP with minimal changes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accumulate_counts_range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MPI + OMP cooperating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12545" y="1173234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173234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MPI: each rank computes its row slice
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MPI_Comm_rank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(MPI_COMM_WORLD, &amp;rank);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local_start = start + rank * (total/size);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local_end   = local_start + (total/size);
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OMP: threads parallelize within this rank's slice
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(static) \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reduction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(+:class_counts[:C]) \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reduction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(+:feature_counts[:P])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local_start; i &lt; local_end; i++) {
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accumulate counts ...
}
// MPI: sum all rank counts into global totals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MPI_Allreduce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(local_class, class_counts,
  C, MPI_LONG_LONG, MPI_SUM, WORLD);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MPI_Allreduce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(local_feat, feature_counts,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P, MPI_LONG_LONG, MPI_SUM, WORLD);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1209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two systems: ISU Linux Cluster and SDSC Expanse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phase: each configuration run 5 times and averaged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" y="2060047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 (SDSC)</a:t>
            </a: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117273"/>
              </p:ext>
            </p:extLst>
          </p:nvPr>
        </p:nvGraphicFramePr>
        <p:xfrm>
          <a:off x="228600" y="2316079"/>
          <a:ext cx="4114800" cy="24688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implementations on heart dataset, 1 run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OMP 8t, MPI 8p, Hybrid 2p×4t — once each at 20k, 100k, 500k, 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C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OMP: 1,2,4,8,16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MPI: 1,2,4,8,16 procs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all proc×thread combos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runs each, averaged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C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00600" y="2060047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 (ISU)</a:t>
            </a:r>
            <a:endParaRPr lang="en-US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45498"/>
              </p:ext>
            </p:extLst>
          </p:nvPr>
        </p:nvGraphicFramePr>
        <p:xfrm>
          <a:off x="4800600" y="2316079"/>
          <a:ext cx="4114800" cy="24688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implementations on heart dataset, 1 run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4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Serial, OMP 8t, MPI 8p, Hybrid 2p×4t — once each at 20k, 100k, 500k, 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B4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OMP: 1,2,4,8 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MPI: 1,2,4,8 procs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all proc×thread combos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runs each, averaged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2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9.11x at 16 threads. Efficiency stays above 0.8 through 8 threads.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out at 3.62x at 8 threads due to fewer cores and higher thread overhead.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7DBEBD-5221-C0D1-E014-31084F4E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52" y="2098590"/>
            <a:ext cx="6976295" cy="2939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DE8D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peaks at 4 procs (1.88x) then regresses back near serial.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moves off 1x across all counts. Something is limiting MPI performance.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5D704-6178-4EE9-0FC2-B3BF1EE4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52" y="2098590"/>
            <a:ext cx="6976295" cy="29398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6.18x at 8p x 16t. The 16p x 16t corner collapses to 0.59x due to overhead.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2.9x at 1p x 8t. Adding more processes hurts.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3D6C79-AC04-3E12-630F-105467DA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85" y="2098590"/>
            <a:ext cx="7266029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dominates: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accounts for ~79% of serial runtime. Train and classify are fast.
</a:t>
            </a: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reduces CV: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parallelize inside each fold's train and classify calls.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CF00D-EACD-8793-60F6-59DEF2C41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26" y="2098590"/>
            <a:ext cx="7173095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Results: Train + Classify 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DE8D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CV is excluded: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train and classify reach 9.07x on Expanse at 16 procs.
</a:t>
            </a: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was never the algorithm.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broadcasts the full dataset on every fold split.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F5673E-BE94-8309-9CB7-EB94EB52A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52" y="2098590"/>
            <a:ext cx="6976295" cy="29398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251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train+classify scales to 9.07x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algorithm is not the problem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CV back and speedup collapses to 1.88x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bottleneck lives inside cross_validate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 is only called from 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cross_validate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during main train or classify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twice per fold x 5 folds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 MPI_Allgatherv broadcasts per run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 already has the full dataset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rank could build fold splits locally with zero communication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is unaffected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copy_rows uses memcpy within shared memory, no broadcast needed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15968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3159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function. </a:t>
            </a: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can build its own fold split from data it already has no MPI_Allgatherv needed.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bottleneck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245228"/>
            <a:ext cx="4114800" cy="3529584"/>
          </a:xfrm>
          <a:prstGeom prst="roundRect">
            <a:avLst>
              <a:gd name="adj" fmla="val 2591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245228"/>
            <a:ext cx="3840480" cy="3529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copy_rows(src, cols, indices, n_rows, dest) {
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each rank copies its slice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local_rows = n_rows / size;
</a:t>
            </a: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local_rows; i++)
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memcpy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(&amp;local[i*cols],
           &amp;src[idx[i]*cols], ...);
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broadcast full result to all ranks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MPI_Allgatherv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    local, local_rows * cols, MPI_INT,
    dest, recv_counts, displacements,
    MPI_INT, MPI_COMM_WORLD
  );
}
</a:t>
            </a: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cross_validate — per fold: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copy_rows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train_idx, train_size, ...);
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copy_rows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test_idx,  test_size,  ...);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251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copy_rows deleted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rank already has the full dataset, no broadcast needed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accumulate_counts_range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added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row_indices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classify_dataset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row_indices parameter added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build_truth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row_indices parameter added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passes NULL for </a:t>
            </a:r>
            <a:r>
              <a:rPr lang="en-US" sz="14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row_indices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 err="1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cross_validate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removed train_data/test_data malloc and copy_rows calls; passes train_idx/test_idx directly
</a:t>
            </a: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call sites pass NULL for train/classify passes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4315968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43159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4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full-dataset broadcasts per CV run eliminated. Each rank builds fold splits locally.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cross_validate: build indices, pass directly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265165"/>
            <a:ext cx="4114800" cy="3193151"/>
          </a:xfrm>
          <a:prstGeom prst="roundRect">
            <a:avLst>
              <a:gd name="adj" fmla="val 2591"/>
            </a:avLst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96949"/>
            <a:ext cx="3840480" cy="3529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(fold = 0; fold &lt; k; fold++) {
</a:t>
            </a: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build index arrays locally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 0; i &lt; n; i++) {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/ fold_size == fold)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test_idx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[test_size++] = i;
</a:t>
            </a: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train_idx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[train_size++] = i;
  }
</a:t>
            </a: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pass directly — no copy, no broadcast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accumulate_counts_range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train_idx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classify_dataset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pred_test,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test_idx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build_truth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y_test,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test_idx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Results: After the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DE8D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cleanly to 6.30x at 16 procs. Up from 1.88x in v1.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2.98x at 8 procs. Up from 1.28x in v1.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CF0B6-053B-E4DF-ED2F-D6A5BD36A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52" y="2098590"/>
            <a:ext cx="6976295" cy="29398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Results: After the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jumps to 8.06x at 8p x 16t. Up from 6.18x in v1. Heatmap is now much darker.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 hits 3.48x at 2p x 8t. Up from 2.90x in v1.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C32C6-F401-1DDE-997E-2D9C2EEB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86" y="2098590"/>
            <a:ext cx="7266027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Efficiency: OMP vs MPI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stays above 0.8 through 8 threads on Expanse. Drops at 16.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v2: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now tracks OMP closely. v1 collapsed due to broadcast overhead.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A6BC54-E04E-FD32-3BEC-14DADFF9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06" y="2098590"/>
            <a:ext cx="7160588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Data-Size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scales with N, reaching 6x at 1m. MPI v2 holds steady around 5x across all sizes.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and MPI v2 both improve with N. MPI now competitive with OMP.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417921-B87D-1463-BEA4-B2F6BE87E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59" y="2106006"/>
            <a:ext cx="6057282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leads at 9.11x. MPI v2 reaches 6.30x. Hybrid peaks at 8.06x.
</a:t>
            </a: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Cluster: 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leads at 3.62x. MPI v2 reaches 2.98x. Hybrid peaks at 3.48x.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1D2A93-C132-774C-24E3-8E4C73C2D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106006"/>
            <a:ext cx="7475219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BF2FA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Methodology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scripts,  Python parser, Jupyter notebook created a fast feedback loop
Timing each phase independently revealed that CV dominated runtime 
Data visualization caught the MPI bottleneck and drove the v2 fix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880360"/>
            <a:ext cx="4160520" cy="2011680"/>
          </a:xfrm>
          <a:prstGeom prst="roundRect">
            <a:avLst>
              <a:gd name="adj" fmla="val 4545"/>
            </a:avLst>
          </a:prstGeom>
          <a:solidFill>
            <a:srgbClr val="D1FAE5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2783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scaled well on both systems  design paid off
MPI v1 bottlenecked by copy_rows; v2 fixed it and scaled to 6.30x on Expanse
Hybrid v2 reached 8.06x combining both levels of parallelism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9144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Expanse 16p x 16t Collapse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--ntasks-per-node=128 in the script (and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expance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 per node) set the core limit; at 16p x 16t we hit exactly 256 workers on 128 cores
MPI coordination overhead on top pushed performance below serial
Multi-node MPI runs would be the natural next step to scale further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31089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FDE8DF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31546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Cluster Observations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45643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8 procs/threads in the bash script
--oversubscribe flag used for hybrid runs; performance degraded early, suggesting fewer than 32 physical cores
Adding processes beyond 4 consistently hurt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AD0DE-0E86-ADCA-291A-353AF0A62265}"/>
              </a:ext>
            </a:extLst>
          </p:cNvPr>
          <p:cNvSpPr txBox="1"/>
          <p:nvPr/>
        </p:nvSpPr>
        <p:spPr>
          <a:xfrm>
            <a:off x="362465" y="1112108"/>
            <a:ext cx="878153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CDC BRFSS 2015 Diabetes Health Indicators. UCI ML Repository.</a:t>
            </a:r>
          </a:p>
          <a:p>
            <a:r>
              <a:rPr lang="en-US" sz="1400" dirty="0"/>
              <a:t>    https://archive.ics.uci.edu/dataset/891/cdc+diabetes+health+indicators</a:t>
            </a:r>
          </a:p>
          <a:p>
            <a:endParaRPr lang="en-US" sz="1400" dirty="0"/>
          </a:p>
          <a:p>
            <a:r>
              <a:rPr lang="en-US" sz="1400" dirty="0"/>
              <a:t>[2] Teboul, A. Heart Disease Health Indicators Dataset. Kaggle, 2021.</a:t>
            </a:r>
          </a:p>
          <a:p>
            <a:r>
              <a:rPr lang="en-US" sz="1400" dirty="0"/>
              <a:t>    https://www.kaggle.com/datasets/alexteboul/heart-disease-health-indicators-dataset</a:t>
            </a:r>
          </a:p>
          <a:p>
            <a:endParaRPr lang="en-US" sz="1400" dirty="0"/>
          </a:p>
          <a:p>
            <a:r>
              <a:rPr lang="en-US" sz="1400" dirty="0"/>
              <a:t>[3] OpenMP Architecture Review Board. OpenMP API Specification, Version 5.2, 2021.</a:t>
            </a:r>
          </a:p>
          <a:p>
            <a:r>
              <a:rPr lang="en-US" sz="1400" dirty="0"/>
              <a:t>    https://www.openmp.org/specifications/</a:t>
            </a:r>
          </a:p>
          <a:p>
            <a:endParaRPr lang="en-US" sz="1400" dirty="0"/>
          </a:p>
          <a:p>
            <a:r>
              <a:rPr lang="en-US" sz="1400" dirty="0"/>
              <a:t>[4] The Open MPI Project. Open MPI: A High Performance Message Passing Library.</a:t>
            </a:r>
          </a:p>
          <a:p>
            <a:r>
              <a:rPr lang="en-US" sz="1400" dirty="0"/>
              <a:t>    https://www.open-mpi.org/</a:t>
            </a:r>
          </a:p>
          <a:p>
            <a:endParaRPr lang="en-US" sz="1400" dirty="0"/>
          </a:p>
          <a:p>
            <a:r>
              <a:rPr lang="en-US" sz="1400" dirty="0"/>
              <a:t>[5] San Diego Supercomputer Center. SDSC Expanse User Guide.</a:t>
            </a:r>
          </a:p>
          <a:p>
            <a:r>
              <a:rPr lang="en-US" sz="1400" dirty="0"/>
              <a:t>    https://www.sdsc.edu/systems/expanse/user_guide.html</a:t>
            </a:r>
          </a:p>
          <a:p>
            <a:endParaRPr lang="en-US" sz="1400" dirty="0"/>
          </a:p>
          <a:p>
            <a:r>
              <a:rPr lang="en-US" sz="1400" dirty="0"/>
              <a:t>[6] cppreference.com. C Standard Library: </a:t>
            </a:r>
            <a:r>
              <a:rPr lang="en-US" sz="1400" dirty="0" err="1"/>
              <a:t>fgets</a:t>
            </a:r>
            <a:r>
              <a:rPr lang="en-US" sz="1400" dirty="0"/>
              <a:t>, </a:t>
            </a:r>
            <a:r>
              <a:rPr lang="en-US" sz="1400" dirty="0" err="1"/>
              <a:t>fopen</a:t>
            </a:r>
            <a:r>
              <a:rPr lang="en-US" sz="1400" dirty="0"/>
              <a:t>, </a:t>
            </a:r>
            <a:r>
              <a:rPr lang="en-US" sz="1400" dirty="0" err="1"/>
              <a:t>sscanf</a:t>
            </a:r>
            <a:r>
              <a:rPr lang="en-US" sz="1400" dirty="0"/>
              <a:t> — File I/O Reference.</a:t>
            </a:r>
          </a:p>
          <a:p>
            <a:r>
              <a:rPr lang="en-US" sz="1400" dirty="0"/>
              <a:t>    https://en.cppreference.com/w/c/io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2931</Words>
  <Application>Microsoft Office PowerPoint</Application>
  <PresentationFormat>On-screen Show (16:9)</PresentationFormat>
  <Paragraphs>205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Justin Hoffman</cp:lastModifiedBy>
  <cp:revision>2</cp:revision>
  <dcterms:created xsi:type="dcterms:W3CDTF">2026-04-25T00:09:28Z</dcterms:created>
  <dcterms:modified xsi:type="dcterms:W3CDTF">2026-04-25T02:36:41Z</dcterms:modified>
</cp:coreProperties>
</file>